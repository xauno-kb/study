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9197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05866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969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32451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46957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5496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7056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9467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580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72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66850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0036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7582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9271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7521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7F45AC6-C491-4585-A584-9CE2AF7D5500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20456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7F45AC6-C491-4585-A584-9CE2AF7D5500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7407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7F45AC6-C491-4585-A584-9CE2AF7D5500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4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4C56C0-2292-B910-CEE6-5FC2D5461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039" y="5050009"/>
            <a:ext cx="7202558" cy="1178688"/>
          </a:xfrm>
        </p:spPr>
        <p:txBody>
          <a:bodyPr anchor="ctr">
            <a:noAutofit/>
          </a:bodyPr>
          <a:lstStyle/>
          <a:p>
            <a:pPr algn="l"/>
            <a:r>
              <a:rPr lang="ru-RU" sz="2800" dirty="0" err="1"/>
              <a:t>Соціальний</a:t>
            </a:r>
            <a:r>
              <a:rPr lang="ru-RU" sz="2800" dirty="0"/>
              <a:t> </a:t>
            </a:r>
            <a:r>
              <a:rPr lang="ru-RU" sz="2800" dirty="0" err="1"/>
              <a:t>вплив</a:t>
            </a:r>
            <a:r>
              <a:rPr lang="ru-RU" sz="2800" dirty="0"/>
              <a:t> та </a:t>
            </a:r>
            <a:r>
              <a:rPr lang="ru-RU" sz="2800" dirty="0" err="1"/>
              <a:t>контрвплив</a:t>
            </a:r>
            <a:r>
              <a:rPr lang="ru-RU" sz="2800" dirty="0"/>
              <a:t> у </a:t>
            </a:r>
            <a:r>
              <a:rPr lang="ru-RU" sz="2800" dirty="0" err="1"/>
              <a:t>серіалі</a:t>
            </a:r>
            <a:r>
              <a:rPr lang="ru-RU" sz="2800" dirty="0"/>
              <a:t> “</a:t>
            </a:r>
            <a:r>
              <a:rPr lang="ru-RU" sz="2800" dirty="0" err="1"/>
              <a:t>Чорне</a:t>
            </a:r>
            <a:r>
              <a:rPr lang="ru-RU" sz="2800" dirty="0"/>
              <a:t> </a:t>
            </a:r>
            <a:r>
              <a:rPr lang="ru-RU" sz="2800" dirty="0" err="1"/>
              <a:t>дзеркало</a:t>
            </a:r>
            <a:r>
              <a:rPr lang="ru-RU" sz="2800" dirty="0"/>
              <a:t>”</a:t>
            </a:r>
            <a:endParaRPr lang="ru-UA" sz="2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D1A417-04D9-418F-8512-7EF41E7A09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1677" y="4908385"/>
            <a:ext cx="3874124" cy="1178688"/>
          </a:xfrm>
        </p:spPr>
        <p:txBody>
          <a:bodyPr anchor="ctr">
            <a:normAutofit/>
          </a:bodyPr>
          <a:lstStyle/>
          <a:p>
            <a:pPr algn="r"/>
            <a:r>
              <a:rPr lang="ru-RU" dirty="0" err="1"/>
              <a:t>епізод</a:t>
            </a:r>
            <a:r>
              <a:rPr lang="ru-RU" dirty="0"/>
              <a:t> “</a:t>
            </a:r>
            <a:r>
              <a:rPr lang="en-US" dirty="0"/>
              <a:t>Nosedive” (</a:t>
            </a:r>
            <a:r>
              <a:rPr lang="ru-RU" dirty="0" err="1"/>
              <a:t>Падіння</a:t>
            </a:r>
            <a:r>
              <a:rPr lang="ru-RU" dirty="0"/>
              <a:t>)</a:t>
            </a:r>
          </a:p>
          <a:p>
            <a:pPr algn="r"/>
            <a:r>
              <a:rPr lang="ru-RU" dirty="0"/>
              <a:t>Тищенко </a:t>
            </a:r>
            <a:r>
              <a:rPr lang="ru-RU" dirty="0" err="1"/>
              <a:t>дмитро</a:t>
            </a:r>
            <a:r>
              <a:rPr lang="ru-RU" dirty="0"/>
              <a:t> кб-241</a:t>
            </a:r>
            <a:endParaRPr lang="ru-UA" dirty="0"/>
          </a:p>
        </p:txBody>
      </p:sp>
      <p:pic>
        <p:nvPicPr>
          <p:cNvPr id="4" name="Picture 3" descr="Абстрактный фон из дыма">
            <a:extLst>
              <a:ext uri="{FF2B5EF4-FFF2-40B4-BE49-F238E27FC236}">
                <a16:creationId xmlns:a16="http://schemas.microsoft.com/office/drawing/2014/main" id="{7F9F04AB-4DB5-C7C0-512B-650C9B8A84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423" b="21037"/>
          <a:stretch>
            <a:fillRect/>
          </a:stretch>
        </p:blipFill>
        <p:spPr>
          <a:xfrm>
            <a:off x="20" y="10"/>
            <a:ext cx="12191980" cy="490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396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UA"/>
          </a:p>
        </p:txBody>
      </p:sp>
      <p:sp>
        <p:nvSpPr>
          <p:cNvPr id="20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ru-UA"/>
          </a:p>
        </p:txBody>
      </p:sp>
      <p:sp>
        <p:nvSpPr>
          <p:cNvPr id="21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ru-UA"/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ru-UA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5404E5-96B7-75E4-5237-A6771EA96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ru-RU" sz="3200">
                <a:solidFill>
                  <a:srgbClr val="EBEBEB"/>
                </a:solidFill>
              </a:rPr>
              <a:t>Вступ</a:t>
            </a:r>
            <a:endParaRPr lang="ru-UA" sz="3200">
              <a:solidFill>
                <a:srgbClr val="EBEBEB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ACE8EE-C80C-DCDF-FECA-41D92BEA5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r>
              <a:rPr lang="ru-RU" sz="2000"/>
              <a:t>У серії “</a:t>
            </a:r>
            <a:r>
              <a:rPr lang="en-US" sz="2000"/>
              <a:t>Nosedive” </a:t>
            </a:r>
            <a:r>
              <a:rPr lang="ru-RU" sz="2000"/>
              <a:t>серіалу </a:t>
            </a:r>
            <a:r>
              <a:rPr lang="ru-RU" sz="2000" b="1"/>
              <a:t>“Чорне дзеркало”</a:t>
            </a:r>
            <a:r>
              <a:rPr lang="ru-RU" sz="2000"/>
              <a:t> показано суспільство, де кожна взаємодія людей оцінюється рейтингом — від того залежить їхній соціальний статус, можливості та навіть виживання. Епізод яскраво демонструє різні форми </a:t>
            </a:r>
            <a:r>
              <a:rPr lang="ru-RU" sz="2000" b="1"/>
              <a:t>соціального впливу</a:t>
            </a:r>
            <a:r>
              <a:rPr lang="ru-RU" sz="2000"/>
              <a:t>, а також те, як людина може реагувати на цей тиск.</a:t>
            </a:r>
            <a:endParaRPr lang="ru-UA" sz="2000"/>
          </a:p>
        </p:txBody>
      </p:sp>
    </p:spTree>
    <p:extLst>
      <p:ext uri="{BB962C8B-B14F-4D97-AF65-F5344CB8AC3E}">
        <p14:creationId xmlns:p14="http://schemas.microsoft.com/office/powerpoint/2010/main" val="2652814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103F67-D4C7-8BDF-84FD-F70053DD7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690442"/>
            <a:ext cx="3865134" cy="1735667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Сутність</a:t>
            </a:r>
            <a:r>
              <a:rPr lang="ru-RU" dirty="0"/>
              <a:t> </a:t>
            </a:r>
            <a:r>
              <a:rPr lang="ru-RU" dirty="0" err="1"/>
              <a:t>соціального</a:t>
            </a:r>
            <a:r>
              <a:rPr lang="ru-RU" dirty="0"/>
              <a:t> </a:t>
            </a:r>
            <a:r>
              <a:rPr lang="ru-RU" dirty="0" err="1"/>
              <a:t>впливу</a:t>
            </a:r>
            <a:r>
              <a:rPr lang="ru-RU" dirty="0"/>
              <a:t> в </a:t>
            </a:r>
            <a:r>
              <a:rPr lang="ru-RU" dirty="0" err="1"/>
              <a:t>епізоді</a:t>
            </a:r>
            <a:endParaRPr lang="ru-UA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363C6B-B96C-686C-FCBC-B9238FE0E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2605548"/>
            <a:ext cx="3859212" cy="3637936"/>
          </a:xfrm>
        </p:spPr>
        <p:txBody>
          <a:bodyPr>
            <a:normAutofit/>
          </a:bodyPr>
          <a:lstStyle/>
          <a:p>
            <a:r>
              <a:rPr lang="ru-RU" dirty="0"/>
              <a:t>У </a:t>
            </a:r>
            <a:r>
              <a:rPr lang="ru-RU" dirty="0" err="1"/>
              <a:t>світі</a:t>
            </a:r>
            <a:r>
              <a:rPr lang="ru-RU" dirty="0"/>
              <a:t> </a:t>
            </a:r>
            <a:r>
              <a:rPr lang="ru-RU" dirty="0" err="1"/>
              <a:t>епізоду</a:t>
            </a:r>
            <a:r>
              <a:rPr lang="ru-RU" dirty="0"/>
              <a:t> </a:t>
            </a:r>
            <a:r>
              <a:rPr lang="ru-RU" dirty="0" err="1"/>
              <a:t>соціальний</a:t>
            </a:r>
            <a:r>
              <a:rPr lang="ru-RU" dirty="0"/>
              <a:t> </a:t>
            </a:r>
            <a:r>
              <a:rPr lang="ru-RU" dirty="0" err="1"/>
              <a:t>вплив</a:t>
            </a:r>
            <a:r>
              <a:rPr lang="ru-RU" dirty="0"/>
              <a:t> </a:t>
            </a:r>
            <a:r>
              <a:rPr lang="ru-RU" dirty="0" err="1"/>
              <a:t>реалізується</a:t>
            </a:r>
            <a:r>
              <a:rPr lang="ru-RU" dirty="0"/>
              <a:t> через </a:t>
            </a:r>
            <a:r>
              <a:rPr lang="ru-RU" b="1" dirty="0" err="1"/>
              <a:t>тотальний</a:t>
            </a:r>
            <a:r>
              <a:rPr lang="ru-RU" b="1" dirty="0"/>
              <a:t> контроль думки </a:t>
            </a:r>
            <a:r>
              <a:rPr lang="ru-RU" b="1" dirty="0" err="1"/>
              <a:t>більшості</a:t>
            </a:r>
            <a:r>
              <a:rPr lang="ru-RU" dirty="0"/>
              <a:t>, де </a:t>
            </a:r>
            <a:r>
              <a:rPr lang="ru-RU" dirty="0" err="1"/>
              <a:t>кожен</a:t>
            </a:r>
            <a:r>
              <a:rPr lang="ru-RU" dirty="0"/>
              <a:t> </a:t>
            </a:r>
            <a:r>
              <a:rPr lang="ru-RU" dirty="0" err="1"/>
              <a:t>користувач</a:t>
            </a:r>
            <a:r>
              <a:rPr lang="ru-RU" dirty="0"/>
              <a:t> </a:t>
            </a:r>
            <a:r>
              <a:rPr lang="ru-RU" dirty="0" err="1"/>
              <a:t>впливає</a:t>
            </a:r>
            <a:r>
              <a:rPr lang="ru-RU" dirty="0"/>
              <a:t> на </a:t>
            </a:r>
            <a:r>
              <a:rPr lang="ru-RU" dirty="0" err="1"/>
              <a:t>життя</a:t>
            </a:r>
            <a:r>
              <a:rPr lang="ru-RU" dirty="0"/>
              <a:t> </a:t>
            </a:r>
            <a:r>
              <a:rPr lang="ru-RU" dirty="0" err="1"/>
              <a:t>інших</a:t>
            </a:r>
            <a:r>
              <a:rPr lang="ru-RU" dirty="0"/>
              <a:t>, </a:t>
            </a:r>
            <a:r>
              <a:rPr lang="ru-RU" dirty="0" err="1"/>
              <a:t>ставлячи</a:t>
            </a:r>
            <a:r>
              <a:rPr lang="ru-RU" dirty="0"/>
              <a:t> </a:t>
            </a:r>
            <a:r>
              <a:rPr lang="ru-RU" dirty="0" err="1"/>
              <a:t>оцінки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 err="1"/>
              <a:t>Основні</a:t>
            </a:r>
            <a:r>
              <a:rPr lang="ru-RU" dirty="0"/>
              <a:t> </a:t>
            </a:r>
            <a:r>
              <a:rPr lang="ru-RU" dirty="0" err="1"/>
              <a:t>механізми</a:t>
            </a:r>
            <a:r>
              <a:rPr lang="ru-RU" dirty="0"/>
              <a:t> </a:t>
            </a:r>
            <a:r>
              <a:rPr lang="ru-RU" dirty="0" err="1"/>
              <a:t>впливу</a:t>
            </a:r>
            <a:r>
              <a:rPr lang="ru-RU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err="1"/>
              <a:t>Соціальне</a:t>
            </a:r>
            <a:r>
              <a:rPr lang="ru-RU" b="1" dirty="0"/>
              <a:t> </a:t>
            </a:r>
            <a:r>
              <a:rPr lang="ru-RU" b="1" dirty="0" err="1"/>
              <a:t>схвалення</a:t>
            </a:r>
            <a:r>
              <a:rPr lang="ru-RU" b="1" dirty="0"/>
              <a:t> та </a:t>
            </a:r>
            <a:r>
              <a:rPr lang="ru-RU" b="1" dirty="0" err="1"/>
              <a:t>конформізм</a:t>
            </a:r>
            <a:endParaRPr lang="ru-RU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Страх </a:t>
            </a:r>
            <a:r>
              <a:rPr lang="ru-RU" b="1" dirty="0" err="1"/>
              <a:t>втратити</a:t>
            </a:r>
            <a:r>
              <a:rPr lang="ru-RU" b="1" dirty="0"/>
              <a:t> статус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Культура </a:t>
            </a:r>
            <a:r>
              <a:rPr lang="ru-RU" b="1" dirty="0" err="1"/>
              <a:t>показної</a:t>
            </a:r>
            <a:r>
              <a:rPr lang="ru-RU" b="1" dirty="0"/>
              <a:t> </a:t>
            </a:r>
            <a:r>
              <a:rPr lang="ru-RU" b="1" dirty="0" err="1"/>
              <a:t>позитивності</a:t>
            </a:r>
            <a:endParaRPr lang="ru-RU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err="1"/>
              <a:t>Маніпуляція</a:t>
            </a:r>
            <a:r>
              <a:rPr lang="ru-RU" b="1" dirty="0"/>
              <a:t> через </a:t>
            </a:r>
            <a:r>
              <a:rPr lang="ru-RU" b="1" dirty="0" err="1"/>
              <a:t>дефіцит</a:t>
            </a:r>
            <a:r>
              <a:rPr lang="ru-RU" b="1" dirty="0"/>
              <a:t> і </a:t>
            </a:r>
            <a:r>
              <a:rPr lang="ru-RU" b="1" dirty="0" err="1"/>
              <a:t>привілеї</a:t>
            </a:r>
            <a:endParaRPr lang="ru-RU" b="1" dirty="0"/>
          </a:p>
          <a:p>
            <a:r>
              <a:rPr lang="ru-RU" dirty="0" err="1"/>
              <a:t>Цей</a:t>
            </a:r>
            <a:r>
              <a:rPr lang="ru-RU" dirty="0"/>
              <a:t> </a:t>
            </a:r>
            <a:r>
              <a:rPr lang="ru-RU" dirty="0" err="1"/>
              <a:t>вплив</a:t>
            </a:r>
            <a:r>
              <a:rPr lang="ru-RU" dirty="0"/>
              <a:t> </a:t>
            </a:r>
            <a:r>
              <a:rPr lang="ru-RU" dirty="0" err="1"/>
              <a:t>формує</a:t>
            </a:r>
            <a:r>
              <a:rPr lang="ru-RU" dirty="0"/>
              <a:t> </a:t>
            </a:r>
            <a:r>
              <a:rPr lang="ru-RU" dirty="0" err="1"/>
              <a:t>поведінку</a:t>
            </a:r>
            <a:r>
              <a:rPr lang="ru-RU" dirty="0"/>
              <a:t> </a:t>
            </a:r>
            <a:r>
              <a:rPr lang="ru-RU" dirty="0" err="1"/>
              <a:t>персонажів</a:t>
            </a:r>
            <a:r>
              <a:rPr lang="ru-RU" dirty="0"/>
              <a:t> </a:t>
            </a:r>
            <a:r>
              <a:rPr lang="ru-RU" dirty="0" err="1"/>
              <a:t>сильніше</a:t>
            </a:r>
            <a:r>
              <a:rPr lang="ru-RU" dirty="0"/>
              <a:t>, </a:t>
            </a:r>
            <a:r>
              <a:rPr lang="ru-RU" dirty="0" err="1"/>
              <a:t>ніж</a:t>
            </a:r>
            <a:r>
              <a:rPr lang="ru-RU" dirty="0"/>
              <a:t> будь-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закони</a:t>
            </a:r>
            <a:r>
              <a:rPr lang="ru-RU" dirty="0"/>
              <a:t> </a:t>
            </a:r>
            <a:r>
              <a:rPr lang="ru-RU" dirty="0" err="1"/>
              <a:t>чи</a:t>
            </a:r>
            <a:r>
              <a:rPr lang="ru-RU" dirty="0"/>
              <a:t> правила.</a:t>
            </a:r>
          </a:p>
          <a:p>
            <a:endParaRPr lang="ru-UA" dirty="0"/>
          </a:p>
        </p:txBody>
      </p:sp>
      <p:pic>
        <p:nvPicPr>
          <p:cNvPr id="1026" name="Picture 2" descr="Чорне дзеркало&quot; - найкращий серіал сучасності. Для тих, хто уважно читає  мої пости, додам, що &quot;на мою думку&quot;. Після кількох сезонів, які були  відверто слабшими (не слабкими, а слабшими за перші), вийшов">
            <a:extLst>
              <a:ext uri="{FF2B5EF4-FFF2-40B4-BE49-F238E27FC236}">
                <a16:creationId xmlns:a16="http://schemas.microsoft.com/office/drawing/2014/main" id="{7E4CBDA8-EEB4-7017-6C6C-67BF8F87E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435" y="1769115"/>
            <a:ext cx="5041437" cy="2823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2133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EBC191-0216-C979-E672-EF139ABF4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933" y="1359309"/>
            <a:ext cx="8761413" cy="1256072"/>
          </a:xfrm>
        </p:spPr>
        <p:txBody>
          <a:bodyPr/>
          <a:lstStyle/>
          <a:p>
            <a:r>
              <a:rPr lang="ru-RU" dirty="0"/>
              <a:t>Приклад 1 — </a:t>
            </a:r>
            <a:r>
              <a:rPr lang="ru-RU" dirty="0" err="1"/>
              <a:t>Вплив</a:t>
            </a:r>
            <a:r>
              <a:rPr lang="ru-RU" dirty="0"/>
              <a:t> </a:t>
            </a:r>
            <a:r>
              <a:rPr lang="ru-RU" dirty="0" err="1"/>
              <a:t>культури</a:t>
            </a:r>
            <a:r>
              <a:rPr lang="ru-RU" dirty="0"/>
              <a:t> та </a:t>
            </a:r>
            <a:r>
              <a:rPr lang="ru-RU" dirty="0" err="1"/>
              <a:t>моди</a:t>
            </a:r>
            <a:br>
              <a:rPr lang="ru-RU" dirty="0"/>
            </a:br>
            <a:br>
              <a:rPr lang="ru-RU" dirty="0"/>
            </a:br>
            <a:r>
              <a:rPr lang="ru-RU" sz="1600" dirty="0">
                <a:solidFill>
                  <a:schemeClr val="tx1"/>
                </a:solidFill>
              </a:rPr>
              <a:t>Головна </a:t>
            </a:r>
            <a:r>
              <a:rPr lang="ru-RU" sz="1600" dirty="0" err="1">
                <a:solidFill>
                  <a:schemeClr val="tx1"/>
                </a:solidFill>
              </a:rPr>
              <a:t>героїня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sz="1600" dirty="0" err="1">
                <a:solidFill>
                  <a:schemeClr val="tx1"/>
                </a:solidFill>
              </a:rPr>
              <a:t>Лейсі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sz="1600" dirty="0" err="1">
                <a:solidFill>
                  <a:schemeClr val="tx1"/>
                </a:solidFill>
              </a:rPr>
              <a:t>намагається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sz="1600" dirty="0" err="1">
                <a:solidFill>
                  <a:schemeClr val="tx1"/>
                </a:solidFill>
              </a:rPr>
              <a:t>жити</a:t>
            </a:r>
            <a:r>
              <a:rPr lang="ru-RU" sz="1600" dirty="0">
                <a:solidFill>
                  <a:schemeClr val="tx1"/>
                </a:solidFill>
              </a:rPr>
              <a:t> “</a:t>
            </a:r>
            <a:r>
              <a:rPr lang="ru-RU" sz="1600" dirty="0" err="1">
                <a:solidFill>
                  <a:schemeClr val="tx1"/>
                </a:solidFill>
              </a:rPr>
              <a:t>ідеальним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sz="1600" dirty="0" err="1">
                <a:solidFill>
                  <a:schemeClr val="tx1"/>
                </a:solidFill>
              </a:rPr>
              <a:t>життям</a:t>
            </a:r>
            <a:r>
              <a:rPr lang="ru-RU" sz="1600" dirty="0">
                <a:solidFill>
                  <a:schemeClr val="tx1"/>
                </a:solidFill>
              </a:rPr>
              <a:t>”, </a:t>
            </a:r>
            <a:r>
              <a:rPr lang="ru-RU" sz="1600" dirty="0" err="1">
                <a:solidFill>
                  <a:schemeClr val="tx1"/>
                </a:solidFill>
              </a:rPr>
              <a:t>щоб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sz="1600" dirty="0" err="1">
                <a:solidFill>
                  <a:schemeClr val="tx1"/>
                </a:solidFill>
              </a:rPr>
              <a:t>отримати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sz="1600" dirty="0" err="1">
                <a:solidFill>
                  <a:schemeClr val="tx1"/>
                </a:solidFill>
              </a:rPr>
              <a:t>високий</a:t>
            </a:r>
            <a:r>
              <a:rPr lang="ru-RU" sz="1600" dirty="0">
                <a:solidFill>
                  <a:schemeClr val="tx1"/>
                </a:solidFill>
              </a:rPr>
              <a:t> рейтинг (4.5 і </a:t>
            </a:r>
            <a:r>
              <a:rPr lang="ru-RU" sz="1600" dirty="0" err="1">
                <a:solidFill>
                  <a:schemeClr val="tx1"/>
                </a:solidFill>
              </a:rPr>
              <a:t>вище</a:t>
            </a:r>
            <a:r>
              <a:rPr lang="ru-RU" sz="1600" dirty="0">
                <a:solidFill>
                  <a:schemeClr val="tx1"/>
                </a:solidFill>
              </a:rPr>
              <a:t>).</a:t>
            </a:r>
            <a:endParaRPr lang="ru-UA" dirty="0">
              <a:solidFill>
                <a:schemeClr val="tx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B5E566-7025-5EAC-8E1B-AB0A57F15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4955" y="3148795"/>
            <a:ext cx="4825157" cy="576262"/>
          </a:xfrm>
        </p:spPr>
        <p:txBody>
          <a:bodyPr/>
          <a:lstStyle/>
          <a:p>
            <a:r>
              <a:rPr lang="ru-RU" dirty="0" err="1"/>
              <a:t>Соціальний</a:t>
            </a:r>
            <a:r>
              <a:rPr lang="ru-RU" dirty="0"/>
              <a:t> </a:t>
            </a:r>
            <a:r>
              <a:rPr lang="ru-RU" dirty="0" err="1"/>
              <a:t>вплив</a:t>
            </a:r>
            <a:r>
              <a:rPr lang="ru-RU" dirty="0"/>
              <a:t> </a:t>
            </a:r>
            <a:r>
              <a:rPr lang="ru-RU" dirty="0" err="1"/>
              <a:t>проявляється</a:t>
            </a:r>
            <a:r>
              <a:rPr lang="ru-RU" dirty="0"/>
              <a:t> у тому, </a:t>
            </a:r>
            <a:r>
              <a:rPr lang="ru-RU" dirty="0" err="1"/>
              <a:t>що</a:t>
            </a:r>
            <a:r>
              <a:rPr lang="ru-RU" dirty="0"/>
              <a:t>:</a:t>
            </a:r>
            <a:endParaRPr lang="ru-UA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5DE51A2-AA90-FADA-D179-DFCAF34AF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54954" y="3716989"/>
            <a:ext cx="4825158" cy="2840039"/>
          </a:xfrm>
        </p:spPr>
        <p:txBody>
          <a:bodyPr>
            <a:normAutofit/>
          </a:bodyPr>
          <a:lstStyle/>
          <a:p>
            <a:r>
              <a:rPr lang="ru-RU" dirty="0" err="1"/>
              <a:t>Соціальний</a:t>
            </a:r>
            <a:r>
              <a:rPr lang="ru-RU" dirty="0"/>
              <a:t> </a:t>
            </a:r>
            <a:r>
              <a:rPr lang="ru-RU" dirty="0" err="1"/>
              <a:t>вплив</a:t>
            </a:r>
            <a:r>
              <a:rPr lang="ru-RU" dirty="0"/>
              <a:t> </a:t>
            </a:r>
            <a:r>
              <a:rPr lang="ru-RU" dirty="0" err="1"/>
              <a:t>проявляється</a:t>
            </a:r>
            <a:r>
              <a:rPr lang="ru-RU" dirty="0"/>
              <a:t> у тому, </a:t>
            </a:r>
            <a:r>
              <a:rPr lang="ru-RU" dirty="0" err="1"/>
              <a:t>що</a:t>
            </a:r>
            <a:r>
              <a:rPr lang="ru-RU" dirty="0"/>
              <a:t>:</a:t>
            </a:r>
          </a:p>
          <a:p>
            <a:r>
              <a:rPr lang="ru-RU" dirty="0"/>
              <a:t>Вона </a:t>
            </a:r>
            <a:r>
              <a:rPr lang="ru-RU" dirty="0" err="1"/>
              <a:t>копіює</a:t>
            </a:r>
            <a:r>
              <a:rPr lang="ru-RU" dirty="0"/>
              <a:t> манеру </a:t>
            </a:r>
            <a:r>
              <a:rPr lang="ru-RU" dirty="0" err="1"/>
              <a:t>говорити</a:t>
            </a:r>
            <a:r>
              <a:rPr lang="ru-RU" dirty="0"/>
              <a:t>, стиль </a:t>
            </a:r>
            <a:r>
              <a:rPr lang="ru-RU" dirty="0" err="1"/>
              <a:t>одягу</a:t>
            </a:r>
            <a:r>
              <a:rPr lang="ru-RU" dirty="0"/>
              <a:t>, </a:t>
            </a:r>
            <a:r>
              <a:rPr lang="ru-RU" dirty="0" err="1"/>
              <a:t>інтереси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соціальних</a:t>
            </a:r>
            <a:r>
              <a:rPr lang="ru-RU" dirty="0"/>
              <a:t> мереж.</a:t>
            </a:r>
          </a:p>
          <a:p>
            <a:r>
              <a:rPr lang="ru-RU" dirty="0" err="1"/>
              <a:t>Відчуває</a:t>
            </a:r>
            <a:r>
              <a:rPr lang="ru-RU" dirty="0"/>
              <a:t> </a:t>
            </a:r>
            <a:r>
              <a:rPr lang="ru-RU" dirty="0" err="1"/>
              <a:t>тиск</a:t>
            </a:r>
            <a:r>
              <a:rPr lang="ru-RU" dirty="0"/>
              <a:t> “модного” позитивного </a:t>
            </a:r>
            <a:r>
              <a:rPr lang="ru-RU" dirty="0" err="1"/>
              <a:t>мислення</a:t>
            </a:r>
            <a:r>
              <a:rPr lang="ru-RU" dirty="0"/>
              <a:t>.</a:t>
            </a:r>
          </a:p>
          <a:p>
            <a:r>
              <a:rPr lang="ru-RU" dirty="0" err="1"/>
              <a:t>Її</a:t>
            </a:r>
            <a:r>
              <a:rPr lang="ru-RU" dirty="0"/>
              <a:t> </a:t>
            </a:r>
            <a:r>
              <a:rPr lang="ru-RU" dirty="0" err="1"/>
              <a:t>поведінка</a:t>
            </a:r>
            <a:r>
              <a:rPr lang="ru-RU" dirty="0"/>
              <a:t> </a:t>
            </a:r>
            <a:r>
              <a:rPr lang="ru-RU" dirty="0" err="1"/>
              <a:t>змінюється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бажання</a:t>
            </a:r>
            <a:r>
              <a:rPr lang="ru-RU" dirty="0"/>
              <a:t> </a:t>
            </a:r>
            <a:r>
              <a:rPr lang="ru-RU" dirty="0" err="1"/>
              <a:t>сподобатися</a:t>
            </a:r>
            <a:r>
              <a:rPr lang="ru-RU" dirty="0"/>
              <a:t> </a:t>
            </a:r>
            <a:r>
              <a:rPr lang="ru-RU" dirty="0" err="1"/>
              <a:t>іншим</a:t>
            </a:r>
            <a:r>
              <a:rPr lang="ru-RU" dirty="0"/>
              <a:t>.</a:t>
            </a:r>
          </a:p>
          <a:p>
            <a:endParaRPr lang="ru-UA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B79AC0-FF87-4341-C0E5-F417D91336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8712" y="3134837"/>
            <a:ext cx="4825159" cy="576262"/>
          </a:xfrm>
        </p:spPr>
        <p:txBody>
          <a:bodyPr/>
          <a:lstStyle/>
          <a:p>
            <a:r>
              <a:rPr lang="ru-RU" dirty="0" err="1"/>
              <a:t>Ймовірний</a:t>
            </a:r>
            <a:r>
              <a:rPr lang="ru-RU" dirty="0"/>
              <a:t> </a:t>
            </a:r>
            <a:r>
              <a:rPr lang="ru-RU" dirty="0" err="1"/>
              <a:t>контрвплив</a:t>
            </a:r>
            <a:r>
              <a:rPr lang="ru-RU" dirty="0"/>
              <a:t>:</a:t>
            </a:r>
            <a:endParaRPr lang="ru-UA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532E123-E238-A28E-7B13-33BA67E6B4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8712" y="3711099"/>
            <a:ext cx="4825159" cy="2840039"/>
          </a:xfrm>
        </p:spPr>
        <p:txBody>
          <a:bodyPr>
            <a:normAutofit/>
          </a:bodyPr>
          <a:lstStyle/>
          <a:p>
            <a:r>
              <a:rPr lang="ru-RU" dirty="0" err="1"/>
              <a:t>Розвиток</a:t>
            </a:r>
            <a:r>
              <a:rPr lang="ru-RU" dirty="0"/>
              <a:t> критичного </a:t>
            </a:r>
            <a:r>
              <a:rPr lang="ru-RU" dirty="0" err="1"/>
              <a:t>мислення</a:t>
            </a:r>
            <a:r>
              <a:rPr lang="ru-RU" dirty="0"/>
              <a:t> — “</a:t>
            </a:r>
            <a:r>
              <a:rPr lang="ru-RU" dirty="0" err="1"/>
              <a:t>Чому</a:t>
            </a:r>
            <a:r>
              <a:rPr lang="ru-RU" dirty="0"/>
              <a:t> я </a:t>
            </a:r>
            <a:r>
              <a:rPr lang="ru-RU" dirty="0" err="1"/>
              <a:t>це</a:t>
            </a:r>
            <a:r>
              <a:rPr lang="ru-RU" dirty="0"/>
              <a:t> роблю? </a:t>
            </a:r>
            <a:r>
              <a:rPr lang="ru-RU" dirty="0" err="1"/>
              <a:t>Чиї</a:t>
            </a:r>
            <a:r>
              <a:rPr lang="ru-RU" dirty="0"/>
              <a:t>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цінності</a:t>
            </a:r>
            <a:r>
              <a:rPr lang="ru-RU" dirty="0"/>
              <a:t>?”</a:t>
            </a:r>
          </a:p>
          <a:p>
            <a:r>
              <a:rPr lang="ru-RU" dirty="0" err="1"/>
              <a:t>Усвідомлений</a:t>
            </a:r>
            <a:r>
              <a:rPr lang="ru-RU" dirty="0"/>
              <a:t> </a:t>
            </a:r>
            <a:r>
              <a:rPr lang="ru-RU" dirty="0" err="1"/>
              <a:t>вибір</a:t>
            </a:r>
            <a:r>
              <a:rPr lang="ru-RU" dirty="0"/>
              <a:t> </a:t>
            </a:r>
            <a:r>
              <a:rPr lang="ru-RU" dirty="0" err="1"/>
              <a:t>власного</a:t>
            </a:r>
            <a:r>
              <a:rPr lang="ru-RU" dirty="0"/>
              <a:t> стилю </a:t>
            </a:r>
            <a:r>
              <a:rPr lang="ru-RU" dirty="0" err="1"/>
              <a:t>життя</a:t>
            </a:r>
            <a:r>
              <a:rPr lang="ru-RU" dirty="0"/>
              <a:t>.</a:t>
            </a:r>
          </a:p>
          <a:p>
            <a:r>
              <a:rPr lang="ru-RU" dirty="0" err="1"/>
              <a:t>Усунення</a:t>
            </a:r>
            <a:r>
              <a:rPr lang="ru-RU" dirty="0"/>
              <a:t> </a:t>
            </a:r>
            <a:r>
              <a:rPr lang="ru-RU" dirty="0" err="1"/>
              <a:t>залежності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зовнішніх</a:t>
            </a:r>
            <a:r>
              <a:rPr lang="ru-RU" dirty="0"/>
              <a:t> </a:t>
            </a:r>
            <a:r>
              <a:rPr lang="ru-RU" dirty="0" err="1"/>
              <a:t>оцінок</a:t>
            </a:r>
            <a:r>
              <a:rPr lang="ru-RU" dirty="0"/>
              <a:t>.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2789625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03049-B7DD-2278-2AF9-68DEC7550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C32A07-1E7D-0F1C-5265-1EA8E223A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293" y="1162664"/>
            <a:ext cx="8761413" cy="1256072"/>
          </a:xfrm>
        </p:spPr>
        <p:txBody>
          <a:bodyPr/>
          <a:lstStyle/>
          <a:p>
            <a:r>
              <a:rPr lang="ru-RU" dirty="0"/>
              <a:t>Приклад 2 — </a:t>
            </a:r>
            <a:r>
              <a:rPr lang="ru-RU" dirty="0" err="1"/>
              <a:t>Педагогічний</a:t>
            </a:r>
            <a:r>
              <a:rPr lang="ru-RU" dirty="0"/>
              <a:t> та </a:t>
            </a:r>
            <a:r>
              <a:rPr lang="ru-RU" dirty="0" err="1"/>
              <a:t>груповий</a:t>
            </a:r>
            <a:r>
              <a:rPr lang="ru-RU" dirty="0"/>
              <a:t> </a:t>
            </a:r>
            <a:r>
              <a:rPr lang="ru-RU" dirty="0" err="1"/>
              <a:t>вплив</a:t>
            </a:r>
            <a:br>
              <a:rPr lang="ru-RU" dirty="0"/>
            </a:br>
            <a:br>
              <a:rPr lang="ru-RU" dirty="0"/>
            </a:br>
            <a:r>
              <a:rPr lang="ru-RU" sz="1600" dirty="0">
                <a:solidFill>
                  <a:schemeClr val="tx1"/>
                </a:solidFill>
              </a:rPr>
              <a:t>Коли </a:t>
            </a:r>
            <a:r>
              <a:rPr lang="ru-RU" sz="1600" dirty="0" err="1">
                <a:solidFill>
                  <a:schemeClr val="tx1"/>
                </a:solidFill>
              </a:rPr>
              <a:t>Лейсі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sz="1600" dirty="0" err="1">
                <a:solidFill>
                  <a:schemeClr val="tx1"/>
                </a:solidFill>
              </a:rPr>
              <a:t>взаємодіє</a:t>
            </a:r>
            <a:r>
              <a:rPr lang="ru-RU" sz="1600" dirty="0">
                <a:solidFill>
                  <a:schemeClr val="tx1"/>
                </a:solidFill>
              </a:rPr>
              <a:t> з людьми в </a:t>
            </a:r>
            <a:r>
              <a:rPr lang="ru-RU" sz="1600" dirty="0" err="1">
                <a:solidFill>
                  <a:schemeClr val="tx1"/>
                </a:solidFill>
              </a:rPr>
              <a:t>офісі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sz="1600" dirty="0" err="1">
                <a:solidFill>
                  <a:schemeClr val="tx1"/>
                </a:solidFill>
              </a:rPr>
              <a:t>або</a:t>
            </a:r>
            <a:r>
              <a:rPr lang="ru-RU" sz="1600" dirty="0">
                <a:solidFill>
                  <a:schemeClr val="tx1"/>
                </a:solidFill>
              </a:rPr>
              <a:t> на </a:t>
            </a:r>
            <a:r>
              <a:rPr lang="ru-RU" sz="1600" dirty="0" err="1">
                <a:solidFill>
                  <a:schemeClr val="tx1"/>
                </a:solidFill>
              </a:rPr>
              <a:t>вулиці</a:t>
            </a:r>
            <a:r>
              <a:rPr lang="ru-RU" sz="1600" dirty="0">
                <a:solidFill>
                  <a:schemeClr val="tx1"/>
                </a:solidFill>
              </a:rPr>
              <a:t>, </a:t>
            </a:r>
            <a:r>
              <a:rPr lang="ru-RU" sz="1600" dirty="0" err="1">
                <a:solidFill>
                  <a:schemeClr val="tx1"/>
                </a:solidFill>
              </a:rPr>
              <a:t>усі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sz="1600" dirty="0" err="1">
                <a:solidFill>
                  <a:schemeClr val="tx1"/>
                </a:solidFill>
              </a:rPr>
              <a:t>демонструють</a:t>
            </a:r>
            <a:r>
              <a:rPr lang="ru-RU" sz="1600" dirty="0">
                <a:solidFill>
                  <a:schemeClr val="tx1"/>
                </a:solidFill>
              </a:rPr>
              <a:t> “</a:t>
            </a:r>
            <a:r>
              <a:rPr lang="ru-RU" sz="1600" dirty="0" err="1">
                <a:solidFill>
                  <a:schemeClr val="tx1"/>
                </a:solidFill>
              </a:rPr>
              <a:t>учасливу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sz="1600" dirty="0" err="1">
                <a:solidFill>
                  <a:schemeClr val="tx1"/>
                </a:solidFill>
              </a:rPr>
              <a:t>ввічливість</a:t>
            </a:r>
            <a:r>
              <a:rPr lang="ru-RU" sz="1600" dirty="0">
                <a:solidFill>
                  <a:schemeClr val="tx1"/>
                </a:solidFill>
              </a:rPr>
              <a:t>” </a:t>
            </a:r>
            <a:r>
              <a:rPr lang="ru-RU" sz="1600" dirty="0" err="1">
                <a:solidFill>
                  <a:schemeClr val="tx1"/>
                </a:solidFill>
              </a:rPr>
              <a:t>заради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sz="1600" dirty="0" err="1">
                <a:solidFill>
                  <a:schemeClr val="tx1"/>
                </a:solidFill>
              </a:rPr>
              <a:t>високих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sz="1600" dirty="0" err="1">
                <a:solidFill>
                  <a:schemeClr val="tx1"/>
                </a:solidFill>
              </a:rPr>
              <a:t>оцінок</a:t>
            </a:r>
            <a:r>
              <a:rPr lang="ru-RU" sz="1600" dirty="0">
                <a:solidFill>
                  <a:schemeClr val="tx1"/>
                </a:solidFill>
              </a:rPr>
              <a:t>.</a:t>
            </a:r>
            <a:endParaRPr lang="ru-UA" dirty="0">
              <a:solidFill>
                <a:schemeClr val="tx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E0464D-2C24-D9CD-3E66-E4412CF8E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4955" y="3148795"/>
            <a:ext cx="4825157" cy="576262"/>
          </a:xfrm>
        </p:spPr>
        <p:txBody>
          <a:bodyPr/>
          <a:lstStyle/>
          <a:p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формує</a:t>
            </a:r>
            <a:r>
              <a:rPr lang="ru-RU" dirty="0"/>
              <a:t> </a:t>
            </a:r>
            <a:r>
              <a:rPr lang="ru-RU" dirty="0" err="1"/>
              <a:t>навчену</a:t>
            </a:r>
            <a:r>
              <a:rPr lang="ru-RU" dirty="0"/>
              <a:t> </a:t>
            </a:r>
            <a:r>
              <a:rPr lang="ru-RU" dirty="0" err="1"/>
              <a:t>соціальну</a:t>
            </a:r>
            <a:r>
              <a:rPr lang="ru-RU" dirty="0"/>
              <a:t> </a:t>
            </a:r>
            <a:r>
              <a:rPr lang="ru-RU" dirty="0" err="1"/>
              <a:t>поведінку</a:t>
            </a:r>
            <a:r>
              <a:rPr lang="ru-RU" dirty="0"/>
              <a:t>:</a:t>
            </a:r>
            <a:endParaRPr lang="ru-UA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8708EA2-4B97-5088-FA3D-6C64711CD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54954" y="3716989"/>
            <a:ext cx="4825158" cy="2840039"/>
          </a:xfrm>
        </p:spPr>
        <p:txBody>
          <a:bodyPr>
            <a:normAutofit/>
          </a:bodyPr>
          <a:lstStyle/>
          <a:p>
            <a:r>
              <a:rPr lang="ru-RU" dirty="0" err="1"/>
              <a:t>усміхайся</a:t>
            </a:r>
            <a:r>
              <a:rPr lang="ru-RU" dirty="0"/>
              <a:t>, </a:t>
            </a:r>
            <a:r>
              <a:rPr lang="ru-RU" dirty="0" err="1"/>
              <a:t>навіть</a:t>
            </a:r>
            <a:r>
              <a:rPr lang="ru-RU" dirty="0"/>
              <a:t> коли не </a:t>
            </a:r>
            <a:r>
              <a:rPr lang="ru-RU" dirty="0" err="1"/>
              <a:t>хочеш</a:t>
            </a:r>
            <a:r>
              <a:rPr lang="ru-RU" dirty="0"/>
              <a:t>;</a:t>
            </a:r>
          </a:p>
          <a:p>
            <a:r>
              <a:rPr lang="ru-RU" dirty="0"/>
              <a:t>не </a:t>
            </a:r>
            <a:r>
              <a:rPr lang="ru-RU" dirty="0" err="1"/>
              <a:t>конфліктуй</a:t>
            </a:r>
            <a:r>
              <a:rPr lang="ru-RU" dirty="0"/>
              <a:t>;</a:t>
            </a:r>
          </a:p>
          <a:p>
            <a:r>
              <a:rPr lang="ru-RU" dirty="0"/>
              <a:t>говори те,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інші</a:t>
            </a:r>
            <a:r>
              <a:rPr lang="ru-RU" dirty="0"/>
              <a:t> </a:t>
            </a:r>
            <a:r>
              <a:rPr lang="ru-RU" dirty="0" err="1"/>
              <a:t>хочуть</a:t>
            </a:r>
            <a:r>
              <a:rPr lang="ru-RU" dirty="0"/>
              <a:t> </a:t>
            </a:r>
            <a:r>
              <a:rPr lang="ru-RU" dirty="0" err="1"/>
              <a:t>почути</a:t>
            </a:r>
            <a:r>
              <a:rPr lang="ru-RU" dirty="0"/>
              <a:t>.</a:t>
            </a:r>
            <a:endParaRPr lang="ru-UA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5DF4C37-E791-9192-8E87-6CDA63CA38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8712" y="3134837"/>
            <a:ext cx="4825159" cy="576262"/>
          </a:xfrm>
        </p:spPr>
        <p:txBody>
          <a:bodyPr/>
          <a:lstStyle/>
          <a:p>
            <a:r>
              <a:rPr lang="ru-RU" dirty="0" err="1"/>
              <a:t>Ймовірний</a:t>
            </a:r>
            <a:r>
              <a:rPr lang="ru-RU" dirty="0"/>
              <a:t> </a:t>
            </a:r>
            <a:r>
              <a:rPr lang="ru-RU" dirty="0" err="1"/>
              <a:t>контрвплив</a:t>
            </a:r>
            <a:r>
              <a:rPr lang="ru-RU" dirty="0"/>
              <a:t>:</a:t>
            </a:r>
            <a:endParaRPr lang="ru-UA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30764F2-6674-A50C-8A2D-E01EBFE56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8712" y="3711099"/>
            <a:ext cx="4825159" cy="2840039"/>
          </a:xfrm>
        </p:spPr>
        <p:txBody>
          <a:bodyPr>
            <a:normAutofit/>
          </a:bodyPr>
          <a:lstStyle/>
          <a:p>
            <a:r>
              <a:rPr lang="ru-RU" dirty="0" err="1"/>
              <a:t>Навички</a:t>
            </a:r>
            <a:r>
              <a:rPr lang="ru-RU" dirty="0"/>
              <a:t> </a:t>
            </a:r>
            <a:r>
              <a:rPr lang="ru-RU" dirty="0" err="1"/>
              <a:t>асертивності</a:t>
            </a:r>
            <a:r>
              <a:rPr lang="ru-RU" dirty="0"/>
              <a:t> (</a:t>
            </a:r>
            <a:r>
              <a:rPr lang="ru-RU" dirty="0" err="1"/>
              <a:t>уміння</a:t>
            </a:r>
            <a:r>
              <a:rPr lang="ru-RU" dirty="0"/>
              <a:t> </a:t>
            </a:r>
            <a:r>
              <a:rPr lang="ru-RU" dirty="0" err="1"/>
              <a:t>висловлювати</a:t>
            </a:r>
            <a:r>
              <a:rPr lang="ru-RU" dirty="0"/>
              <a:t> </a:t>
            </a:r>
            <a:r>
              <a:rPr lang="ru-RU" dirty="0" err="1"/>
              <a:t>свої</a:t>
            </a:r>
            <a:r>
              <a:rPr lang="ru-RU" dirty="0"/>
              <a:t> думки без </a:t>
            </a:r>
            <a:r>
              <a:rPr lang="ru-RU" dirty="0" err="1"/>
              <a:t>агресії</a:t>
            </a:r>
            <a:r>
              <a:rPr lang="ru-RU" dirty="0"/>
              <a:t>).</a:t>
            </a:r>
          </a:p>
          <a:p>
            <a:r>
              <a:rPr lang="ru-RU" dirty="0"/>
              <a:t>Практика </a:t>
            </a:r>
            <a:r>
              <a:rPr lang="ru-RU" dirty="0" err="1"/>
              <a:t>реальних</a:t>
            </a:r>
            <a:r>
              <a:rPr lang="ru-RU" dirty="0"/>
              <a:t> — не </a:t>
            </a:r>
            <a:r>
              <a:rPr lang="ru-RU" dirty="0" err="1"/>
              <a:t>поверхневих</a:t>
            </a:r>
            <a:r>
              <a:rPr lang="ru-RU" dirty="0"/>
              <a:t> — </a:t>
            </a:r>
            <a:r>
              <a:rPr lang="ru-RU" dirty="0" err="1"/>
              <a:t>взаємин</a:t>
            </a:r>
            <a:r>
              <a:rPr lang="ru-RU" dirty="0"/>
              <a:t>.</a:t>
            </a:r>
          </a:p>
          <a:p>
            <a:r>
              <a:rPr lang="ru-RU" dirty="0" err="1"/>
              <a:t>Оточення</a:t>
            </a:r>
            <a:r>
              <a:rPr lang="ru-RU" dirty="0"/>
              <a:t> себе людьми з </a:t>
            </a:r>
            <a:r>
              <a:rPr lang="ru-RU" dirty="0" err="1"/>
              <a:t>подібними</a:t>
            </a:r>
            <a:r>
              <a:rPr lang="ru-RU" dirty="0"/>
              <a:t> </a:t>
            </a:r>
            <a:r>
              <a:rPr lang="ru-RU" dirty="0" err="1"/>
              <a:t>цінностями</a:t>
            </a:r>
            <a:r>
              <a:rPr lang="ru-RU" dirty="0"/>
              <a:t>.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618400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45DF98-43AC-B60D-91C2-C6ACB5600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Кульмінація</a:t>
            </a:r>
            <a:r>
              <a:rPr lang="ru-RU" dirty="0"/>
              <a:t> — </a:t>
            </a:r>
            <a:r>
              <a:rPr lang="ru-RU" dirty="0" err="1"/>
              <a:t>Розрив</a:t>
            </a:r>
            <a:r>
              <a:rPr lang="ru-RU" dirty="0"/>
              <a:t> </a:t>
            </a:r>
            <a:r>
              <a:rPr lang="ru-RU" dirty="0" err="1"/>
              <a:t>конформізму</a:t>
            </a:r>
            <a:endParaRPr lang="ru-UA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DDF0CC-7AD1-1DB1-54FF-34378B764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Коли </a:t>
            </a:r>
            <a:r>
              <a:rPr lang="ru-RU" dirty="0" err="1"/>
              <a:t>Лейсі</a:t>
            </a:r>
            <a:r>
              <a:rPr lang="ru-RU" dirty="0"/>
              <a:t> </a:t>
            </a:r>
            <a:r>
              <a:rPr lang="ru-RU" dirty="0" err="1"/>
              <a:t>втрачає</a:t>
            </a:r>
            <a:r>
              <a:rPr lang="ru-RU" dirty="0"/>
              <a:t> рейтинг, вона </a:t>
            </a:r>
            <a:r>
              <a:rPr lang="ru-RU" dirty="0" err="1"/>
              <a:t>вперше</a:t>
            </a:r>
            <a:r>
              <a:rPr lang="ru-RU" dirty="0"/>
              <a:t> </a:t>
            </a:r>
            <a:r>
              <a:rPr lang="ru-RU" dirty="0" err="1"/>
              <a:t>стикається</a:t>
            </a:r>
            <a:r>
              <a:rPr lang="ru-RU" dirty="0"/>
              <a:t> </a:t>
            </a:r>
            <a:r>
              <a:rPr lang="ru-RU" dirty="0" err="1"/>
              <a:t>зі</a:t>
            </a:r>
            <a:r>
              <a:rPr lang="ru-RU" dirty="0"/>
              <a:t> </a:t>
            </a:r>
            <a:r>
              <a:rPr lang="ru-RU" dirty="0" err="1"/>
              <a:t>справжніми</a:t>
            </a:r>
            <a:r>
              <a:rPr lang="ru-RU" dirty="0"/>
              <a:t> людьми,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перестають</a:t>
            </a:r>
            <a:r>
              <a:rPr lang="ru-RU" dirty="0"/>
              <a:t> </a:t>
            </a:r>
            <a:r>
              <a:rPr lang="ru-RU" dirty="0" err="1"/>
              <a:t>грати</a:t>
            </a:r>
            <a:r>
              <a:rPr lang="ru-RU" dirty="0"/>
              <a:t> роль.</a:t>
            </a:r>
            <a:br>
              <a:rPr lang="ru-RU" dirty="0"/>
            </a:br>
            <a:r>
              <a:rPr lang="ru-RU" dirty="0"/>
              <a:t>У </a:t>
            </a:r>
            <a:r>
              <a:rPr lang="ru-RU" dirty="0" err="1"/>
              <a:t>фіналі</a:t>
            </a:r>
            <a:r>
              <a:rPr lang="ru-RU" dirty="0"/>
              <a:t> </a:t>
            </a:r>
            <a:r>
              <a:rPr lang="ru-RU" dirty="0" err="1"/>
              <a:t>відбувається</a:t>
            </a:r>
            <a:r>
              <a:rPr lang="ru-RU" dirty="0"/>
              <a:t> </a:t>
            </a:r>
            <a:r>
              <a:rPr lang="ru-RU" b="1" dirty="0" err="1"/>
              <a:t>контрвплив</a:t>
            </a:r>
            <a:r>
              <a:rPr lang="ru-RU" b="1" dirty="0"/>
              <a:t> “</a:t>
            </a:r>
            <a:r>
              <a:rPr lang="ru-RU" b="1" dirty="0" err="1"/>
              <a:t>повного</a:t>
            </a:r>
            <a:r>
              <a:rPr lang="ru-RU" b="1" dirty="0"/>
              <a:t> </a:t>
            </a:r>
            <a:r>
              <a:rPr lang="ru-RU" b="1" dirty="0" err="1"/>
              <a:t>виходу</a:t>
            </a:r>
            <a:r>
              <a:rPr lang="ru-RU" b="1" dirty="0"/>
              <a:t> з </a:t>
            </a:r>
            <a:r>
              <a:rPr lang="ru-RU" b="1" dirty="0" err="1"/>
              <a:t>системи</a:t>
            </a:r>
            <a:r>
              <a:rPr lang="ru-RU" b="1" dirty="0"/>
              <a:t>”</a:t>
            </a:r>
            <a:r>
              <a:rPr lang="ru-RU" dirty="0"/>
              <a:t>:</a:t>
            </a:r>
          </a:p>
          <a:p>
            <a:r>
              <a:rPr lang="ru-RU" dirty="0" err="1"/>
              <a:t>Втративши</a:t>
            </a:r>
            <a:r>
              <a:rPr lang="ru-RU" dirty="0"/>
              <a:t> рейтинг, вона </a:t>
            </a:r>
            <a:r>
              <a:rPr lang="ru-RU" dirty="0" err="1"/>
              <a:t>вперше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говорити</a:t>
            </a:r>
            <a:r>
              <a:rPr lang="ru-RU" dirty="0"/>
              <a:t> </a:t>
            </a:r>
            <a:r>
              <a:rPr lang="ru-RU" dirty="0" err="1"/>
              <a:t>чесно</a:t>
            </a:r>
            <a:r>
              <a:rPr lang="ru-RU" dirty="0"/>
              <a:t>.</a:t>
            </a:r>
          </a:p>
          <a:p>
            <a:r>
              <a:rPr lang="ru-RU" dirty="0" err="1"/>
              <a:t>Конфлікт</a:t>
            </a:r>
            <a:r>
              <a:rPr lang="ru-RU" dirty="0"/>
              <a:t> у </a:t>
            </a:r>
            <a:r>
              <a:rPr lang="ru-RU" dirty="0" err="1"/>
              <a:t>камері</a:t>
            </a:r>
            <a:r>
              <a:rPr lang="ru-RU" dirty="0"/>
              <a:t> </a:t>
            </a:r>
            <a:r>
              <a:rPr lang="ru-RU" dirty="0" err="1"/>
              <a:t>показує</a:t>
            </a:r>
            <a:r>
              <a:rPr lang="ru-RU" dirty="0"/>
              <a:t> </a:t>
            </a:r>
            <a:r>
              <a:rPr lang="ru-RU" dirty="0" err="1"/>
              <a:t>звільнення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соціального</a:t>
            </a:r>
            <a:r>
              <a:rPr lang="ru-RU" dirty="0"/>
              <a:t> </a:t>
            </a:r>
            <a:r>
              <a:rPr lang="ru-RU" dirty="0" err="1"/>
              <a:t>тиску</a:t>
            </a:r>
            <a:r>
              <a:rPr lang="ru-RU" dirty="0"/>
              <a:t>.</a:t>
            </a:r>
          </a:p>
          <a:p>
            <a:r>
              <a:rPr lang="ru-RU" dirty="0" err="1"/>
              <a:t>Героїня</a:t>
            </a:r>
            <a:r>
              <a:rPr lang="ru-RU" dirty="0"/>
              <a:t> </a:t>
            </a:r>
            <a:r>
              <a:rPr lang="ru-RU" dirty="0" err="1"/>
              <a:t>перестає</a:t>
            </a:r>
            <a:r>
              <a:rPr lang="ru-RU" dirty="0"/>
              <a:t> бути “</a:t>
            </a:r>
            <a:r>
              <a:rPr lang="ru-RU" dirty="0" err="1"/>
              <a:t>функцією</a:t>
            </a:r>
            <a:r>
              <a:rPr lang="ru-RU" dirty="0"/>
              <a:t> рейтингу” і </a:t>
            </a:r>
            <a:r>
              <a:rPr lang="ru-RU" dirty="0" err="1"/>
              <a:t>повертається</a:t>
            </a:r>
            <a:r>
              <a:rPr lang="ru-RU" dirty="0"/>
              <a:t> до </a:t>
            </a:r>
            <a:r>
              <a:rPr lang="ru-RU" dirty="0" err="1"/>
              <a:t>власної</a:t>
            </a:r>
            <a:r>
              <a:rPr lang="ru-RU" dirty="0"/>
              <a:t> </a:t>
            </a:r>
            <a:r>
              <a:rPr lang="ru-RU" dirty="0" err="1"/>
              <a:t>ідентичності</a:t>
            </a:r>
            <a:r>
              <a:rPr lang="ru-RU" dirty="0"/>
              <a:t>.</a:t>
            </a:r>
          </a:p>
          <a:p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609321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94525-E4A7-C8CE-EF6E-FF56F4A1E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Висновки</a:t>
            </a:r>
            <a:endParaRPr lang="ru-UA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7B26FA-E2B2-A510-97CD-46D1ECF68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/>
              <a:t>Епізод</a:t>
            </a:r>
            <a:r>
              <a:rPr lang="ru-RU" dirty="0"/>
              <a:t> “</a:t>
            </a:r>
            <a:r>
              <a:rPr lang="en-US" dirty="0"/>
              <a:t>Nosedive” </a:t>
            </a:r>
            <a:r>
              <a:rPr lang="ru-RU" dirty="0" err="1"/>
              <a:t>демонструє</a:t>
            </a:r>
            <a:r>
              <a:rPr lang="ru-RU" dirty="0"/>
              <a:t>:</a:t>
            </a:r>
          </a:p>
          <a:p>
            <a:r>
              <a:rPr lang="ru-RU" dirty="0"/>
              <a:t>як </a:t>
            </a:r>
            <a:r>
              <a:rPr lang="ru-RU" dirty="0" err="1"/>
              <a:t>соціальний</a:t>
            </a:r>
            <a:r>
              <a:rPr lang="ru-RU" dirty="0"/>
              <a:t> </a:t>
            </a:r>
            <a:r>
              <a:rPr lang="ru-RU" dirty="0" err="1"/>
              <a:t>вплив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стати </a:t>
            </a:r>
            <a:r>
              <a:rPr lang="ru-RU" dirty="0" err="1"/>
              <a:t>тотальним</a:t>
            </a:r>
            <a:r>
              <a:rPr lang="ru-RU" dirty="0"/>
              <a:t>;</a:t>
            </a:r>
          </a:p>
          <a:p>
            <a:r>
              <a:rPr lang="ru-RU" dirty="0"/>
              <a:t>як </a:t>
            </a:r>
            <a:r>
              <a:rPr lang="ru-RU" dirty="0" err="1"/>
              <a:t>механізми</a:t>
            </a:r>
            <a:r>
              <a:rPr lang="ru-RU" dirty="0"/>
              <a:t> </a:t>
            </a:r>
            <a:r>
              <a:rPr lang="ru-RU" dirty="0" err="1"/>
              <a:t>культури</a:t>
            </a:r>
            <a:r>
              <a:rPr lang="ru-RU" dirty="0"/>
              <a:t>, </a:t>
            </a:r>
            <a:r>
              <a:rPr lang="ru-RU" dirty="0" err="1"/>
              <a:t>моди</a:t>
            </a:r>
            <a:r>
              <a:rPr lang="ru-RU" dirty="0"/>
              <a:t>, статусу та </a:t>
            </a:r>
            <a:r>
              <a:rPr lang="ru-RU" dirty="0" err="1"/>
              <a:t>схвалення</a:t>
            </a:r>
            <a:r>
              <a:rPr lang="ru-RU" dirty="0"/>
              <a:t> </a:t>
            </a:r>
            <a:r>
              <a:rPr lang="ru-RU" dirty="0" err="1"/>
              <a:t>формують</a:t>
            </a:r>
            <a:r>
              <a:rPr lang="ru-RU" dirty="0"/>
              <a:t> </a:t>
            </a:r>
            <a:r>
              <a:rPr lang="ru-RU" dirty="0" err="1"/>
              <a:t>поведінку</a:t>
            </a:r>
            <a:r>
              <a:rPr lang="ru-RU" dirty="0"/>
              <a:t>;</a:t>
            </a:r>
          </a:p>
          <a:p>
            <a:r>
              <a:rPr lang="ru-RU" dirty="0"/>
              <a:t>як </a:t>
            </a:r>
            <a:r>
              <a:rPr lang="ru-RU" dirty="0" err="1"/>
              <a:t>конформізм</a:t>
            </a:r>
            <a:r>
              <a:rPr lang="ru-RU" dirty="0"/>
              <a:t> </a:t>
            </a:r>
            <a:r>
              <a:rPr lang="ru-RU" dirty="0" err="1"/>
              <a:t>підтримується</a:t>
            </a:r>
            <a:r>
              <a:rPr lang="ru-RU" dirty="0"/>
              <a:t> страхом </a:t>
            </a:r>
            <a:r>
              <a:rPr lang="ru-RU" dirty="0" err="1"/>
              <a:t>втратити</a:t>
            </a:r>
            <a:r>
              <a:rPr lang="ru-RU" dirty="0"/>
              <a:t> </a:t>
            </a:r>
            <a:r>
              <a:rPr lang="ru-RU" dirty="0" err="1"/>
              <a:t>привілеї</a:t>
            </a:r>
            <a:r>
              <a:rPr lang="ru-RU" dirty="0"/>
              <a:t>;</a:t>
            </a:r>
          </a:p>
          <a:p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контрвпливи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допомогти</a:t>
            </a:r>
            <a:r>
              <a:rPr lang="ru-RU" dirty="0"/>
              <a:t> </a:t>
            </a:r>
            <a:r>
              <a:rPr lang="ru-RU" dirty="0" err="1"/>
              <a:t>людині</a:t>
            </a:r>
            <a:r>
              <a:rPr lang="ru-RU" dirty="0"/>
              <a:t> </a:t>
            </a:r>
            <a:r>
              <a:rPr lang="ru-RU" dirty="0" err="1"/>
              <a:t>зберегти</a:t>
            </a:r>
            <a:r>
              <a:rPr lang="ru-RU" dirty="0"/>
              <a:t> </a:t>
            </a:r>
            <a:r>
              <a:rPr lang="ru-RU" dirty="0" err="1"/>
              <a:t>автономію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 err="1"/>
              <a:t>Основний</a:t>
            </a:r>
            <a:r>
              <a:rPr lang="ru-RU" dirty="0"/>
              <a:t> урок — </a:t>
            </a:r>
            <a:r>
              <a:rPr lang="ru-RU" b="1" dirty="0" err="1"/>
              <a:t>соціальний</a:t>
            </a:r>
            <a:r>
              <a:rPr lang="ru-RU" b="1" dirty="0"/>
              <a:t> </a:t>
            </a:r>
            <a:r>
              <a:rPr lang="ru-RU" b="1" dirty="0" err="1"/>
              <a:t>вплив</a:t>
            </a:r>
            <a:r>
              <a:rPr lang="ru-RU" b="1" dirty="0"/>
              <a:t> неминучий, </a:t>
            </a:r>
            <a:r>
              <a:rPr lang="ru-RU" b="1" dirty="0" err="1"/>
              <a:t>але</a:t>
            </a:r>
            <a:r>
              <a:rPr lang="ru-RU" b="1" dirty="0"/>
              <a:t> ми </a:t>
            </a:r>
            <a:r>
              <a:rPr lang="ru-RU" b="1" dirty="0" err="1"/>
              <a:t>можемо</a:t>
            </a:r>
            <a:r>
              <a:rPr lang="ru-RU" b="1" dirty="0"/>
              <a:t> </a:t>
            </a:r>
            <a:r>
              <a:rPr lang="ru-RU" b="1" dirty="0" err="1"/>
              <a:t>контролювати</a:t>
            </a:r>
            <a:r>
              <a:rPr lang="ru-RU" b="1" dirty="0"/>
              <a:t> свою </a:t>
            </a:r>
            <a:r>
              <a:rPr lang="ru-RU" b="1" dirty="0" err="1"/>
              <a:t>реакцію</a:t>
            </a:r>
            <a:r>
              <a:rPr lang="ru-RU" b="1" dirty="0"/>
              <a:t> на </a:t>
            </a:r>
            <a:r>
              <a:rPr lang="ru-RU" b="1" dirty="0" err="1"/>
              <a:t>нього</a:t>
            </a:r>
            <a:r>
              <a:rPr lang="ru-RU" dirty="0"/>
              <a:t>.</a:t>
            </a:r>
          </a:p>
          <a:p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36908621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Совет директоров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вет директоров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15</TotalTime>
  <Words>437</Words>
  <Application>Microsoft Office PowerPoint</Application>
  <PresentationFormat>Широкоэкранный</PresentationFormat>
  <Paragraphs>43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Совет директоров</vt:lpstr>
      <vt:lpstr>Соціальний вплив та контрвплив у серіалі “Чорне дзеркало”</vt:lpstr>
      <vt:lpstr>Вступ</vt:lpstr>
      <vt:lpstr>Сутність соціального впливу в епізоді</vt:lpstr>
      <vt:lpstr>Приклад 1 — Вплив культури та моди  Головна героїня Лейсі намагається жити “ідеальним життям”, щоб отримати високий рейтинг (4.5 і вище).</vt:lpstr>
      <vt:lpstr>Приклад 2 — Педагогічний та груповий вплив  Коли Лейсі взаємодіє з людьми в офісі або на вулиці, усі демонструють “учасливу ввічливість” заради високих оцінок.</vt:lpstr>
      <vt:lpstr>Кульмінація — Розрив конформізму</vt:lpstr>
      <vt:lpstr>Висновки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Dmitry Tischenko</dc:creator>
  <cp:lastModifiedBy>Dmitry Tischenko</cp:lastModifiedBy>
  <cp:revision>5</cp:revision>
  <dcterms:created xsi:type="dcterms:W3CDTF">2025-11-14T09:28:56Z</dcterms:created>
  <dcterms:modified xsi:type="dcterms:W3CDTF">2025-11-14T09:44:11Z</dcterms:modified>
</cp:coreProperties>
</file>